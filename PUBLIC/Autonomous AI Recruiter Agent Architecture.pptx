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JetBrains Mono"/>
      <ns0:bold ns1:id="rIdFont14"/>
      <ns0:regular ns1:id="rIdFont15"/>
    </ns0:embeddedFon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dbdda998-8439-483a-80db-8300280991dd.fntdata" /><ns0:Relationship Id="rIdFont15" Type="http://schemas.openxmlformats.org/officeDocument/2006/relationships/font" Target="fonts/ec289eec-5893-43c6-9b6f-c4260517ac4d.fntdata" /><ns0:Relationship Id="rIdFont16" Type="http://schemas.openxmlformats.org/officeDocument/2006/relationships/font" Target="fonts/6d513159-87ed-42e8-9de1-d4611e54636f.fntdata" /><ns0:Relationship Id="rIdFont17" Type="http://schemas.openxmlformats.org/officeDocument/2006/relationships/font" Target="fonts/c7838824-777b-4cff-b8ce-a4e9f19c8cb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627215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92684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B82F6"/>
                </a:solidFill>
                <a:latin typeface="JetBrains Mono"/>
              </a:rPr>
              <a:t>AGENTIC AUTOMATION • LANGGRAPH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653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Autonomous Recruiter Outreach &amp; Job Hunter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6165"/>
            <a:ext cx="6762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Plus Jakarta Sans"/>
              </a:rPr>
              <a:t>Cyclic state graphs for profile-matched role extraction, recruiter enrichment, and context-aware cold dispatches.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67050"/>
            <a:ext cx="3403550" cy="1781175"/>
          </a:xfrm>
          <a:prstGeom prst="roundRect">
            <a:avLst>
              <a:gd name="adj" fmla="val 85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48000"/>
            <a:ext cx="3403550" cy="1819275"/>
          </a:xfrm>
          <a:prstGeom prst="roundRect">
            <a:avLst>
              <a:gd name="adj" fmla="val 8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67037"/>
            <a:ext cx="3403550" cy="1981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JetBrains Mono"/>
              </a:rPr>
              <a:t>RECRUITING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Manual Pipeline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19475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15h+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295775"/>
            <a:ext cx="337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Weekly manual parsing waste.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6575" y="3400425"/>
            <a:ext cx="3373375" cy="800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2563EB"/>
                </a:solidFill>
                <a:latin typeface="JetBrains Mono"/>
              </a:rPr>
              <a:t>&lt; 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6575" y="4314825"/>
            <a:ext cx="3373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Generic template reply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4925" y="3319462"/>
            <a:ext cx="337337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Plus Jakarta San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925" y="4195762"/>
            <a:ext cx="2793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JetBrains Mono"/>
              </a:rPr>
              <a:t>Persistent state across scrapers.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186112"/>
            <a:ext cx="3454449" cy="1543050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500437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74" y="350043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50043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JetBrains Mono"/>
              </a:rPr>
              <a:t>MULTI-AGENT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Cyclic Graph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Node 1: Job Scraper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Targeted portal listings ingestion.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Node 2: Resume Matcher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Graduation and skill alignment.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88143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Node 3: Pitch Drafter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224" y="4195762"/>
            <a:ext cx="35322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Contextual cold email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00287"/>
            <a:ext cx="5219700" cy="323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JetBrains Mono"/>
              </a:rPr>
              <a:t>DATAFLOW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Deterministic Fallbacks &amp;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1476"/>
            <a:ext cx="6524625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Pydantic Validation: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Zero hallucinated claims in email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232"/>
            <a:ext cx="6524625" cy="253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Contact Enrichment: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Resolves verified recruiter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0987"/>
            <a:ext cx="5314950" cy="506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95"/>
              </a:lnSpc>
            </a:pPr>
            <a:r>
              <a:rPr b="1" sz="1425" i="0" u="none">
                <a:solidFill>
                  <a:srgbClr val="334155"/>
                </a:solidFill>
                <a:latin typeface="Plus Jakarta Sans"/>
              </a:rPr>
              <a:t>Cadence Scheduling:</a:t>
            </a:r>
            <a:r>
              <a:rPr b="0" sz="1425" i="0" u="none">
                <a:solidFill>
                  <a:srgbClr val="334155"/>
                </a:solidFill>
                <a:latin typeface="Plus Jakarta Sans"/>
              </a:rPr>
              <a:t> Automated 5-day human follow-up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JetBrains Mono"/>
              </a:rPr>
              <a:t>PIPELINE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Operational Efficiency Multiplier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00575" y="2962275"/>
            <a:ext cx="3738562" cy="990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b="1" sz="7800" i="0" u="none">
                <a:solidFill>
                  <a:srgbClr val="2563EB"/>
                </a:solidFill>
                <a:latin typeface="Plus Jakarta Sans"/>
              </a:rPr>
              <a:t>99.1%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62312" y="4105275"/>
            <a:ext cx="70842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Plus Jakarta Sans"/>
              </a:rPr>
              <a:t>Routing accuracy through cyclic LangGraph 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3025" y="4600575"/>
            <a:ext cx="5357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Zero Rate-Limit Drops: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Async queue throttling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6475" y="4600575"/>
            <a:ext cx="5953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JetBrains Mono"/>
              </a:rPr>
              <a:t>Conversion Rate:</a:t>
            </a:r>
            <a:r>
              <a:rPr b="0" sz="1200" i="0" u="none">
                <a:solidFill>
                  <a:srgbClr val="334155"/>
                </a:solidFill>
                <a:latin typeface="JetBrains Mono"/>
              </a:rPr>
              <a:t> 4.2x above industry cold averages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610992"/>
            <a:ext cx="4572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57750" y="2218432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B82F6"/>
                </a:solidFill>
                <a:latin typeface="JetBrains Mono"/>
              </a:rPr>
              <a:t>STATEFUL REASONING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5406" y="2542282"/>
            <a:ext cx="9501187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Production Multi-Agent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829942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Transforming fragile manual scraping loops into deterministic, self-evaluating workflows.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https://blogs.oracle.com/developers/wp-content/uploads/sites/129/2026/03/Agent-Loop-%E2%80%94-Linear-Flow-with-Loop-back-scaled.png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369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blogs.oracle.com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